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437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B1437"/>
                </a:solidFill>
                <a:latin typeface="Georgia"/>
              </a:rPr>
              <a:t>Viewers &amp; prime-time share — last 6 months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Viewers (M)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4.12</c:v>
                </c:pt>
                <c:pt idx="1">
                  <c:v>4.21</c:v>
                </c:pt>
                <c:pt idx="2">
                  <c:v>4.29</c:v>
                </c:pt>
                <c:pt idx="3">
                  <c:v>4.51</c:v>
                </c:pt>
                <c:pt idx="4">
                  <c:v>4.68</c:v>
                </c:pt>
                <c:pt idx="5">
                  <c:v>4.82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Prime-time Share (%)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24.1</c:v>
                </c:pt>
                <c:pt idx="1">
                  <c:v>24.8</c:v>
                </c:pt>
                <c:pt idx="2">
                  <c:v>25.6</c:v>
                </c:pt>
                <c:pt idx="3">
                  <c:v>26.9</c:v>
                </c:pt>
                <c:pt idx="4">
                  <c:v>27.5</c:v>
                </c:pt>
                <c:pt idx="5">
                  <c:v>28.4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437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B1437"/>
                </a:solidFill>
                <a:latin typeface="Georgia"/>
              </a:rPr>
              <a:t>Revenue by stream — Q2 vs Q3 (R 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(Rm)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4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Advertising</c:v>
                  </c:pt>
                  <c:pt idx="1">
                    <c:v>Subscriptions</c:v>
                  </c:pt>
                  <c:pt idx="2">
                    <c:v>Licensing</c:v>
                  </c:pt>
                  <c:pt idx="3">
                    <c:v>Other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</c:v>
                </c:pt>
                <c:pt idx="1">
                  <c:v>98</c:v>
                </c:pt>
                <c:pt idx="2">
                  <c:v>38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(Rm)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4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Advertising</c:v>
                  </c:pt>
                  <c:pt idx="1">
                    <c:v>Subscriptions</c:v>
                  </c:pt>
                  <c:pt idx="2">
                    <c:v>Licensing</c:v>
                  </c:pt>
                  <c:pt idx="3">
                    <c:v>Other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162</c:v>
                </c:pt>
                <c:pt idx="1">
                  <c:v>108</c:v>
                </c:pt>
                <c:pt idx="2">
                  <c:v>32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4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Georgia"/>
              </a:rPr>
              <a:t>Streaming MAU growth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 (K)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Q3'24</c:v>
                  </c:pt>
                  <c:pt idx="1">
                    <c:v>Q4'24</c:v>
                  </c:pt>
                  <c:pt idx="2">
                    <c:v>Q1'25</c:v>
                  </c:pt>
                  <c:pt idx="3">
                    <c:v>Q2'25</c:v>
                  </c:pt>
                  <c:pt idx="4">
                    <c:v>Q3'25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505</c:v>
                </c:pt>
                <c:pt idx="1">
                  <c:v>548</c:v>
                </c:pt>
                <c:pt idx="2">
                  <c:v>612</c:v>
                </c:pt>
                <c:pt idx="3">
                  <c:v>668</c:v>
                </c:pt>
                <c:pt idx="4">
                  <c:v>712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43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Performance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summary of viewership, revenue, content, and operational health.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1371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Office of the CEO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 •  Confidential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0" y="548640"/>
            <a:ext cx="2743200" cy="2743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3657600"/>
            <a:ext cx="1463040" cy="1463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5486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📺</a:t>
            </a:r>
            <a:endParaRPr lang="en-US" sz="9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quarter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0"/>
          </a:xfrm>
          <a:prstGeom prst="line">
            <a:avLst/>
          </a:prstGeom>
          <a:noFill/>
          <a:ln w="25400">
            <a:solidFill>
              <a:srgbClr val="0B14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" cy="1737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Viewers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12.4%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last quarter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554480"/>
            <a:ext cx="109728" cy="1737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318M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6118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8.7%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last quarter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554480"/>
            <a:ext cx="109728" cy="1737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1.96M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last quarter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98280" y="15544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98280" y="1554480"/>
            <a:ext cx="109728" cy="1737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7260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93726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0.4 pp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last quarter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11247120" cy="2560320"/>
          </a:xfrm>
          <a:prstGeom prst="roundRect">
            <a:avLst>
              <a:gd name="adj" fmla="val 3571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Prime-time share hit 28.4%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4389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6 quarters; Bright News leads weekday slots.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47823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app crosses 700K MAU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28016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41% YoY; mobile drives 64% of all sessions.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80160" y="54223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+14% YoY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8016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deals with 3 new FMCG brands closed in Q3.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CEO DASHBOARD  •  Q3 2025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65592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AUDIENCE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Viewership trends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0"/>
          </a:xfrm>
          <a:prstGeom prst="line">
            <a:avLst/>
          </a:prstGeom>
          <a:noFill/>
          <a:ln w="25400">
            <a:solidFill>
              <a:srgbClr val="0B143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straight months of growth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0" y="2971800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926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News overtook the 19:00 slot in 4 of 6 metros.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3685032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6393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finals lifted August viewership by ~9%.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0" y="4398264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0" y="43525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drama block now beats nearest competitor by 3.1pp.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0" y="5111496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0" y="50657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late-night audience flat — review programming mix.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CEO DASHBOARD  •  Q3 2025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165592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FINANCIAL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mix &amp; growth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0"/>
          </a:xfrm>
          <a:prstGeom prst="line">
            <a:avLst/>
          </a:prstGeom>
          <a:noFill/>
          <a:ln w="25400">
            <a:solidFill>
              <a:srgbClr val="0B143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55448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Q3 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011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318M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0467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8.7% QoQ   ▲ 13.2% YoY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88620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Advertising +14% on FMCG sponsorships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Subscriptions +10% via streaming bundle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5349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Licensing softened (-16%) — renegotiate Q4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CEO DASHBOARD  •  Q3 2025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165592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CONTENT &amp; STREAMING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performers and digital growth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0"/>
          </a:xfrm>
          <a:prstGeom prst="line">
            <a:avLst/>
          </a:prstGeom>
          <a:noFill/>
          <a:ln w="25400">
            <a:solidFill>
              <a:srgbClr val="0B14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68580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SHOWS — Q3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6309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155448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Viewers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 News @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Joburg Nights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Mzansi Mornings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Indaba 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5544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APP MAU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20116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712K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77240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41% YoY  •  64% on mobile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589520" y="379476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CEO DASHBOARD  •  Q3 2025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165592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OUTLOOK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Priorities for Q4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0972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prime-time lead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Bright News expansion to a 2nd daily edition; pilot regional bulletins.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68096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streaming to 1M MAU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3317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mobile carriers; launch family plan at R79/month.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0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92024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revenue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4709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licensing talks with 2 pan-African broadcasters; pitch branded content studio.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605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8096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churn below 2%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0" y="4709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+ win-back campaign; address billing friction (#1 cancel reason).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Prepared for the CEO  •  Q3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- CEO Dashboard</dc:title>
  <dc:subject>PptxGenJS Presentation</dc:subject>
  <dc:creator>PptxGenJS</dc:creator>
  <cp:lastModifiedBy>PptxGenJS</cp:lastModifiedBy>
  <cp:revision>1</cp:revision>
  <dcterms:created xsi:type="dcterms:W3CDTF">2026-04-21T04:39:38Z</dcterms:created>
  <dcterms:modified xsi:type="dcterms:W3CDTF">2026-04-21T04:39:38Z</dcterms:modified>
</cp:coreProperties>
</file>